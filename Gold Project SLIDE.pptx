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8"/>
  </p:notesMasterIdLst>
  <p:handoutMasterIdLst>
    <p:handoutMasterId r:id="rId19"/>
  </p:handoutMasterIdLst>
  <p:sldIdLst>
    <p:sldId id="317" r:id="rId5"/>
    <p:sldId id="307" r:id="rId6"/>
    <p:sldId id="308" r:id="rId7"/>
    <p:sldId id="278" r:id="rId8"/>
    <p:sldId id="309" r:id="rId9"/>
    <p:sldId id="263" r:id="rId10"/>
    <p:sldId id="310" r:id="rId11"/>
    <p:sldId id="311" r:id="rId12"/>
    <p:sldId id="312" r:id="rId13"/>
    <p:sldId id="316" r:id="rId14"/>
    <p:sldId id="314" r:id="rId15"/>
    <p:sldId id="315" r:id="rId16"/>
    <p:sldId id="30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5405" autoAdjust="0"/>
  </p:normalViewPr>
  <p:slideViewPr>
    <p:cSldViewPr snapToGrid="0">
      <p:cViewPr varScale="1">
        <p:scale>
          <a:sx n="65" d="100"/>
          <a:sy n="65" d="100"/>
        </p:scale>
        <p:origin x="936" y="78"/>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5/5/2026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5/5/2026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42099865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23327485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emf"/></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br>
              <a:rPr lang="en-US" sz="3200" dirty="0"/>
            </a:br>
            <a:br>
              <a:rPr lang="en-US" sz="3200" dirty="0"/>
            </a:br>
            <a:br>
              <a:rPr lang="en-US" sz="3200" dirty="0"/>
            </a:br>
            <a:br>
              <a:rPr lang="en-US" sz="3200" dirty="0"/>
            </a:br>
            <a:br>
              <a:rPr lang="en-US" sz="3200" dirty="0"/>
            </a:br>
            <a:br>
              <a:rPr lang="en-US" sz="3200" dirty="0"/>
            </a:br>
            <a:r>
              <a:rPr lang="en-US" sz="3200" b="1" dirty="0">
                <a:latin typeface="Aptos" panose="020B0004020202020204" pitchFamily="34" charset="0"/>
              </a:rPr>
              <a:t>PREDICTING SHORT-TERM PRICE MOVEMENTS OF GOLD (XAUUSD)</a:t>
            </a:r>
            <a:br>
              <a:rPr lang="en-US" sz="3200" b="1" dirty="0">
                <a:latin typeface="Aptos" panose="020B0004020202020204" pitchFamily="34" charset="0"/>
              </a:rPr>
            </a:br>
            <a:r>
              <a:rPr lang="en-US" sz="3200" b="1" dirty="0">
                <a:latin typeface="Aptos" panose="020B0004020202020204" pitchFamily="34" charset="0"/>
              </a:rPr>
              <a:t>USING HISTORICAL OHLCV DATA</a:t>
            </a:r>
            <a:br>
              <a:rPr lang="en-US" sz="3200" b="1" dirty="0">
                <a:latin typeface="Aptos" panose="020B0004020202020204" pitchFamily="34" charset="0"/>
              </a:rPr>
            </a:br>
            <a:br>
              <a:rPr lang="en-US" sz="3200" b="1" dirty="0">
                <a:latin typeface="Aptos" panose="020B0004020202020204" pitchFamily="34" charset="0"/>
              </a:rPr>
            </a:br>
            <a:br>
              <a:rPr lang="en-US" sz="3200" b="1" dirty="0">
                <a:latin typeface="Aptos" panose="020B0004020202020204" pitchFamily="34" charset="0"/>
              </a:rPr>
            </a:br>
            <a:br>
              <a:rPr lang="en-US" sz="3200" b="1" dirty="0">
                <a:latin typeface="Aptos" panose="020B0004020202020204" pitchFamily="34" charset="0"/>
              </a:rPr>
            </a:br>
            <a:br>
              <a:rPr lang="en-US" sz="3200" b="1" dirty="0">
                <a:latin typeface="Aptos" panose="020B0004020202020204" pitchFamily="34" charset="0"/>
              </a:rPr>
            </a:br>
            <a:br>
              <a:rPr lang="en-US" dirty="0"/>
            </a:br>
            <a:endParaRPr lang="en-US"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5AB6E93-76D8-991F-76F6-608FF71B5EC7}"/>
              </a:ext>
            </a:extLst>
          </p:cNvPr>
          <p:cNvPicPr>
            <a:picLocks noGrp="1" noChangeAspect="1"/>
          </p:cNvPicPr>
          <p:nvPr>
            <p:ph idx="1"/>
          </p:nvPr>
        </p:nvPicPr>
        <p:blipFill>
          <a:blip r:embed="rId3"/>
          <a:stretch>
            <a:fillRect/>
          </a:stretch>
        </p:blipFill>
        <p:spPr>
          <a:xfrm>
            <a:off x="339214" y="625665"/>
            <a:ext cx="11400476" cy="5606670"/>
          </a:xfrm>
          <a:prstGeom prst="rect">
            <a:avLst/>
          </a:prstGeom>
        </p:spPr>
      </p:pic>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21" descr="Person in black skirt and white shirt holding some dandelions">
            <a:extLst>
              <a:ext uri="{FF2B5EF4-FFF2-40B4-BE49-F238E27FC236}">
                <a16:creationId xmlns:a16="http://schemas.microsoft.com/office/drawing/2014/main" id="{FFD2BD9F-962D-9BA5-14BE-C9CD52FEF9C7}"/>
              </a:ext>
            </a:extLst>
          </p:cNvPr>
          <p:cNvPicPr>
            <a:picLocks noGrp="1" noChangeAspect="1"/>
          </p:cNvPicPr>
          <p:nvPr>
            <p:ph type="pic" idx="1"/>
          </p:nvPr>
        </p:nvPicPr>
        <p:blipFill rotWithShape="1">
          <a:blip r:embed="rId3" cstate="screen">
            <a:extLst>
              <a:ext uri="{28A0092B-C50C-407E-A947-70E740481C1C}">
                <a14:useLocalDpi xmlns:a14="http://schemas.microsoft.com/office/drawing/2010/main"/>
              </a:ext>
            </a:extLst>
          </a:blip>
          <a:srcRect t="18" b="18"/>
          <a:stretch/>
        </p:blipFill>
        <p:spPr>
          <a:xfrm>
            <a:off x="11061290" y="0"/>
            <a:ext cx="1130710" cy="6587067"/>
          </a:xfrm>
        </p:spPr>
      </p:pic>
      <p:pic>
        <p:nvPicPr>
          <p:cNvPr id="4" name="Picture 3">
            <a:extLst>
              <a:ext uri="{FF2B5EF4-FFF2-40B4-BE49-F238E27FC236}">
                <a16:creationId xmlns:a16="http://schemas.microsoft.com/office/drawing/2014/main" id="{FAC43227-9879-CB82-65D1-B352D3A2DF56}"/>
              </a:ext>
            </a:extLst>
          </p:cNvPr>
          <p:cNvPicPr>
            <a:picLocks noChangeAspect="1"/>
          </p:cNvPicPr>
          <p:nvPr/>
        </p:nvPicPr>
        <p:blipFill>
          <a:blip r:embed="rId4"/>
          <a:stretch>
            <a:fillRect/>
          </a:stretch>
        </p:blipFill>
        <p:spPr>
          <a:xfrm>
            <a:off x="617191" y="678427"/>
            <a:ext cx="10264877" cy="5014450"/>
          </a:xfrm>
          <a:prstGeom prst="rect">
            <a:avLst/>
          </a:prstGeom>
        </p:spPr>
      </p:pic>
    </p:spTree>
    <p:extLst>
      <p:ext uri="{BB962C8B-B14F-4D97-AF65-F5344CB8AC3E}">
        <p14:creationId xmlns:p14="http://schemas.microsoft.com/office/powerpoint/2010/main" val="2222324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Placeholder 3" descr="A person holding a plant">
            <a:extLst>
              <a:ext uri="{FF2B5EF4-FFF2-40B4-BE49-F238E27FC236}">
                <a16:creationId xmlns:a16="http://schemas.microsoft.com/office/drawing/2014/main" id="{0DEBEDD0-2C97-CD36-23CF-99F082806824}"/>
              </a:ext>
            </a:extLst>
          </p:cNvPr>
          <p:cNvPicPr>
            <a:picLocks noGrp="1" noChangeAspect="1"/>
          </p:cNvPicPr>
          <p:nvPr>
            <p:ph type="pic" sz="quarter" idx="11"/>
          </p:nvPr>
        </p:nvPicPr>
        <p:blipFill rotWithShape="1">
          <a:blip r:embed="rId3"/>
          <a:srcRect l="24497" r="24497"/>
          <a:stretch/>
        </p:blipFill>
        <p:spPr>
          <a:xfrm>
            <a:off x="-1" y="261780"/>
            <a:ext cx="191730" cy="6596220"/>
          </a:xfrm>
          <a:solidFill>
            <a:schemeClr val="tx1"/>
          </a:solidFill>
        </p:spPr>
      </p:pic>
      <p:graphicFrame>
        <p:nvGraphicFramePr>
          <p:cNvPr id="2" name="Table 1">
            <a:extLst>
              <a:ext uri="{FF2B5EF4-FFF2-40B4-BE49-F238E27FC236}">
                <a16:creationId xmlns:a16="http://schemas.microsoft.com/office/drawing/2014/main" id="{25900058-12B4-3A36-6489-6FE377C74F52}"/>
              </a:ext>
            </a:extLst>
          </p:cNvPr>
          <p:cNvGraphicFramePr>
            <a:graphicFrameLocks noGrp="1"/>
          </p:cNvGraphicFramePr>
          <p:nvPr>
            <p:extLst>
              <p:ext uri="{D42A27DB-BD31-4B8C-83A1-F6EECF244321}">
                <p14:modId xmlns:p14="http://schemas.microsoft.com/office/powerpoint/2010/main" val="3750378092"/>
              </p:ext>
            </p:extLst>
          </p:nvPr>
        </p:nvGraphicFramePr>
        <p:xfrm>
          <a:off x="749709" y="428753"/>
          <a:ext cx="10695040" cy="6198250"/>
        </p:xfrm>
        <a:graphic>
          <a:graphicData uri="http://schemas.openxmlformats.org/drawingml/2006/table">
            <a:tbl>
              <a:tblPr firstRow="1" firstCol="1" bandRow="1"/>
              <a:tblGrid>
                <a:gridCol w="2139008">
                  <a:extLst>
                    <a:ext uri="{9D8B030D-6E8A-4147-A177-3AD203B41FA5}">
                      <a16:colId xmlns:a16="http://schemas.microsoft.com/office/drawing/2014/main" val="530707273"/>
                    </a:ext>
                  </a:extLst>
                </a:gridCol>
                <a:gridCol w="2139008">
                  <a:extLst>
                    <a:ext uri="{9D8B030D-6E8A-4147-A177-3AD203B41FA5}">
                      <a16:colId xmlns:a16="http://schemas.microsoft.com/office/drawing/2014/main" val="130538620"/>
                    </a:ext>
                  </a:extLst>
                </a:gridCol>
                <a:gridCol w="2139008">
                  <a:extLst>
                    <a:ext uri="{9D8B030D-6E8A-4147-A177-3AD203B41FA5}">
                      <a16:colId xmlns:a16="http://schemas.microsoft.com/office/drawing/2014/main" val="1371804849"/>
                    </a:ext>
                  </a:extLst>
                </a:gridCol>
                <a:gridCol w="2139008">
                  <a:extLst>
                    <a:ext uri="{9D8B030D-6E8A-4147-A177-3AD203B41FA5}">
                      <a16:colId xmlns:a16="http://schemas.microsoft.com/office/drawing/2014/main" val="1537552833"/>
                    </a:ext>
                  </a:extLst>
                </a:gridCol>
                <a:gridCol w="2139008">
                  <a:extLst>
                    <a:ext uri="{9D8B030D-6E8A-4147-A177-3AD203B41FA5}">
                      <a16:colId xmlns:a16="http://schemas.microsoft.com/office/drawing/2014/main" val="532290698"/>
                    </a:ext>
                  </a:extLst>
                </a:gridCol>
              </a:tblGrid>
              <a:tr h="220187">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S/No</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Author (s)</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Model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Year</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Key Finding</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4420755"/>
                  </a:ext>
                </a:extLst>
              </a:tr>
              <a:tr h="300998">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1</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Breiman</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Random forest</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2001</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Handles non-linear data</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30744654"/>
                  </a:ext>
                </a:extLst>
              </a:tr>
              <a:tr h="457868">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Huang et 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SVM</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2005</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High classification accuracy</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1912700"/>
                  </a:ext>
                </a:extLst>
              </a:tr>
              <a:tr h="614738">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3</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Patet et 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ML Models</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2015</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Feature engineering improves results</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514717"/>
                  </a:ext>
                </a:extLst>
              </a:tr>
              <a:tr h="300998">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4</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Fischer &amp; Krauss </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LSTM</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2018</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dirty="0">
                          <a:effectLst/>
                          <a:latin typeface="Times New Roman" panose="02020603050405020304" pitchFamily="18" charset="0"/>
                          <a:ea typeface="MS Mincho" panose="02020609040205080304" pitchFamily="49" charset="-128"/>
                          <a:cs typeface="Times New Roman" panose="02020603050405020304" pitchFamily="18" charset="0"/>
                        </a:rPr>
                        <a:t>Outperforms ML Models</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01960326"/>
                  </a:ext>
                </a:extLst>
              </a:tr>
              <a:tr h="457868">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5</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Huang et 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ARIMA-LSTM</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2020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Hybrid improves accuracy</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3248204"/>
                  </a:ext>
                </a:extLst>
              </a:tr>
              <a:tr h="339519">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6</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Lim et 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Transformer</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2021</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Captures long dependencies</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44813883"/>
                  </a:ext>
                </a:extLst>
              </a:tr>
              <a:tr h="300998">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7</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Li et 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GB</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2021</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Outperforms ARIMA</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592531"/>
                  </a:ext>
                </a:extLst>
              </a:tr>
              <a:tr h="457868">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8</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Chen et 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ML +Indicators</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2021</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Feature engineering critical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13092690"/>
                  </a:ext>
                </a:extLst>
              </a:tr>
              <a:tr h="457868">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9</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Zhang et 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Bi-LSTM</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2022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Better temporal Learning</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4904749"/>
                  </a:ext>
                </a:extLst>
              </a:tr>
              <a:tr h="457868">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10</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Wang et 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CNN-LSTM</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2023</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Hybrid improves performance</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29990469"/>
                  </a:ext>
                </a:extLst>
              </a:tr>
              <a:tr h="300998">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11</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Azaria et 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LSTM</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dirty="0">
                          <a:effectLst/>
                          <a:latin typeface="Times New Roman" panose="02020603050405020304" pitchFamily="18" charset="0"/>
                          <a:ea typeface="MS Mincho" panose="02020609040205080304" pitchFamily="49" charset="-128"/>
                          <a:cs typeface="Times New Roman" panose="02020603050405020304" pitchFamily="18" charset="0"/>
                        </a:rPr>
                        <a:t>2024</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Accurate Price forecast</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1787794"/>
                  </a:ext>
                </a:extLst>
              </a:tr>
              <a:tr h="457868">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12</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Alireza et 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ML Models</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2025</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Logistic highest accuracy</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3446208"/>
                  </a:ext>
                </a:extLst>
              </a:tr>
              <a:tr h="614738">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13</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Taneva et 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Comparative</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2025</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Prophet, Bi-LSTM, LSTM are best</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54620448"/>
                  </a:ext>
                </a:extLst>
              </a:tr>
              <a:tr h="457868">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14</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Mohammad et al</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LSTM+TSCV</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a:effectLst/>
                          <a:latin typeface="Times New Roman" panose="02020603050405020304" pitchFamily="18" charset="0"/>
                          <a:ea typeface="MS Mincho" panose="02020609040205080304" pitchFamily="49" charset="-128"/>
                          <a:cs typeface="Times New Roman" panose="02020603050405020304" pitchFamily="18" charset="0"/>
                        </a:rPr>
                        <a:t>2026</a:t>
                      </a:r>
                      <a:endParaRPr lang="en-US" sz="110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200" dirty="0">
                          <a:effectLst/>
                          <a:latin typeface="Times New Roman" panose="02020603050405020304" pitchFamily="18" charset="0"/>
                          <a:ea typeface="MS Mincho" panose="02020609040205080304" pitchFamily="49" charset="-128"/>
                          <a:cs typeface="Times New Roman" panose="02020603050405020304" pitchFamily="18" charset="0"/>
                        </a:rPr>
                        <a:t>Effective price prediction</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40220923"/>
                  </a:ext>
                </a:extLst>
              </a:tr>
            </a:tbl>
          </a:graphicData>
        </a:graphic>
      </p:graphicFrame>
    </p:spTree>
    <p:extLst>
      <p:ext uri="{BB962C8B-B14F-4D97-AF65-F5344CB8AC3E}">
        <p14:creationId xmlns:p14="http://schemas.microsoft.com/office/powerpoint/2010/main" val="520000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a:t>
            </a:fld>
            <a:endParaRPr lang="en-US" dirty="0"/>
          </a:p>
        </p:txBody>
      </p:sp>
      <p:pic>
        <p:nvPicPr>
          <p:cNvPr id="9" name="Content Placeholder 8">
            <a:extLst>
              <a:ext uri="{FF2B5EF4-FFF2-40B4-BE49-F238E27FC236}">
                <a16:creationId xmlns:a16="http://schemas.microsoft.com/office/drawing/2014/main" id="{DBA22D92-7F0A-EEDD-342B-7E7C87EBDC1A}"/>
              </a:ext>
            </a:extLst>
          </p:cNvPr>
          <p:cNvPicPr>
            <a:picLocks noGrp="1" noChangeAspect="1"/>
          </p:cNvPicPr>
          <p:nvPr>
            <p:ph sz="quarter" idx="10"/>
          </p:nvPr>
        </p:nvPicPr>
        <p:blipFill>
          <a:blip r:embed="rId3"/>
          <a:stretch>
            <a:fillRect/>
          </a:stretch>
        </p:blipFill>
        <p:spPr>
          <a:xfrm>
            <a:off x="398206" y="589934"/>
            <a:ext cx="11282517" cy="5899355"/>
          </a:xfrm>
          <a:prstGeom prst="rect">
            <a:avLst/>
          </a:prstGeom>
        </p:spPr>
      </p:pic>
    </p:spTree>
    <p:extLst>
      <p:ext uri="{BB962C8B-B14F-4D97-AF65-F5344CB8AC3E}">
        <p14:creationId xmlns:p14="http://schemas.microsoft.com/office/powerpoint/2010/main" val="1966913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A7933D-BE24-94E1-EE24-B6F0A64BF29A}"/>
              </a:ext>
            </a:extLst>
          </p:cNvPr>
          <p:cNvPicPr>
            <a:picLocks noChangeAspect="1"/>
          </p:cNvPicPr>
          <p:nvPr/>
        </p:nvPicPr>
        <p:blipFill>
          <a:blip r:embed="rId3"/>
          <a:stretch>
            <a:fillRect/>
          </a:stretch>
        </p:blipFill>
        <p:spPr>
          <a:xfrm>
            <a:off x="442452" y="663677"/>
            <a:ext cx="11326761" cy="5678129"/>
          </a:xfrm>
          <a:prstGeom prst="rect">
            <a:avLst/>
          </a:prstGeom>
        </p:spPr>
      </p:pic>
    </p:spTree>
    <p:extLst>
      <p:ext uri="{BB962C8B-B14F-4D97-AF65-F5344CB8AC3E}">
        <p14:creationId xmlns:p14="http://schemas.microsoft.com/office/powerpoint/2010/main" val="1096717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pic>
        <p:nvPicPr>
          <p:cNvPr id="10" name="Content Placeholder 9">
            <a:extLst>
              <a:ext uri="{FF2B5EF4-FFF2-40B4-BE49-F238E27FC236}">
                <a16:creationId xmlns:a16="http://schemas.microsoft.com/office/drawing/2014/main" id="{43DAF446-A03D-C8C8-3C7B-D7F898ECC9A5}"/>
              </a:ext>
            </a:extLst>
          </p:cNvPr>
          <p:cNvPicPr>
            <a:picLocks noGrp="1" noChangeAspect="1"/>
          </p:cNvPicPr>
          <p:nvPr>
            <p:ph sz="quarter" idx="11"/>
          </p:nvPr>
        </p:nvPicPr>
        <p:blipFill>
          <a:blip r:embed="rId3"/>
          <a:stretch>
            <a:fillRect/>
          </a:stretch>
        </p:blipFill>
        <p:spPr>
          <a:xfrm>
            <a:off x="353961" y="250723"/>
            <a:ext cx="11661255" cy="6312309"/>
          </a:xfrm>
          <a:prstGeom prst="rect">
            <a:avLst/>
          </a:prstGeom>
        </p:spPr>
      </p:pic>
    </p:spTree>
    <p:extLst>
      <p:ext uri="{BB962C8B-B14F-4D97-AF65-F5344CB8AC3E}">
        <p14:creationId xmlns:p14="http://schemas.microsoft.com/office/powerpoint/2010/main" val="4230106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a:extLst>
              <a:ext uri="{FF2B5EF4-FFF2-40B4-BE49-F238E27FC236}">
                <a16:creationId xmlns:a16="http://schemas.microsoft.com/office/drawing/2014/main" id="{180F9C5E-07BF-32DF-8E66-F27BBDF93668}"/>
              </a:ext>
            </a:extLst>
          </p:cNvPr>
          <p:cNvPicPr>
            <a:picLocks noGrp="1" noChangeAspect="1"/>
          </p:cNvPicPr>
          <p:nvPr>
            <p:ph sz="quarter" idx="12"/>
          </p:nvPr>
        </p:nvPicPr>
        <p:blipFill>
          <a:blip r:embed="rId3"/>
          <a:stretch>
            <a:fillRect/>
          </a:stretch>
        </p:blipFill>
        <p:spPr>
          <a:xfrm>
            <a:off x="442451" y="250723"/>
            <a:ext cx="11326761" cy="6341806"/>
          </a:xfrm>
          <a:prstGeom prst="rect">
            <a:avLst/>
          </a:prstGeom>
        </p:spPr>
      </p:pic>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8</a:t>
            </a:fld>
            <a:endParaRPr lang="en-US" dirty="0"/>
          </a:p>
        </p:txBody>
      </p:sp>
    </p:spTree>
    <p:extLst>
      <p:ext uri="{BB962C8B-B14F-4D97-AF65-F5344CB8AC3E}">
        <p14:creationId xmlns:p14="http://schemas.microsoft.com/office/powerpoint/2010/main" val="3748348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597F60-88E2-C430-D52B-6604405AD55C}"/>
              </a:ext>
            </a:extLst>
          </p:cNvPr>
          <p:cNvSpPr>
            <a:spLocks noGrp="1"/>
          </p:cNvSpPr>
          <p:nvPr>
            <p:ph sz="quarter" idx="12"/>
          </p:nvPr>
        </p:nvSpPr>
        <p:spPr>
          <a:xfrm>
            <a:off x="678426" y="516194"/>
            <a:ext cx="10146889" cy="5427405"/>
          </a:xfrm>
        </p:spPr>
        <p:txBody>
          <a:bodyPr>
            <a:normAutofit lnSpcReduction="10000"/>
          </a:bodyPr>
          <a:lstStyle/>
          <a:p>
            <a:pPr marL="0" marR="0" algn="ctr">
              <a:lnSpc>
                <a:spcPct val="115000"/>
              </a:lnSpc>
              <a:spcAft>
                <a:spcPts val="1000"/>
              </a:spcAft>
              <a:buNone/>
            </a:pPr>
            <a:r>
              <a:rPr lang="en-US" sz="2000" b="1" dirty="0">
                <a:effectLst/>
                <a:latin typeface="Times New Roman" panose="02020603050405020304" pitchFamily="18" charset="0"/>
                <a:ea typeface="MS Mincho" panose="02020609040205080304" pitchFamily="49" charset="-128"/>
                <a:cs typeface="Times New Roman" panose="02020603050405020304" pitchFamily="18" charset="0"/>
              </a:rPr>
              <a:t>RESULTS</a:t>
            </a:r>
          </a:p>
          <a:p>
            <a:pPr marL="0" marR="0" algn="just">
              <a:lnSpc>
                <a:spcPct val="115000"/>
              </a:lnSpc>
              <a:spcAft>
                <a:spcPts val="1000"/>
              </a:spcAft>
              <a:buNone/>
            </a:pPr>
            <a:r>
              <a:rPr lang="en-US" sz="2400" b="1" dirty="0">
                <a:effectLst/>
                <a:latin typeface="Times New Roman" panose="02020603050405020304" pitchFamily="18" charset="0"/>
                <a:ea typeface="MS Mincho" panose="02020609040205080304" pitchFamily="49" charset="-128"/>
                <a:cs typeface="Times New Roman" panose="02020603050405020304" pitchFamily="18" charset="0"/>
              </a:rPr>
              <a:t>The Random Forest model captured general patterns and performed slightly better than The LSTM model performed. </a:t>
            </a:r>
            <a:r>
              <a:rPr lang="en-US" sz="2400" b="1" dirty="0">
                <a:latin typeface="Times New Roman" panose="02020603050405020304" pitchFamily="18" charset="0"/>
                <a:ea typeface="MS Mincho" panose="02020609040205080304" pitchFamily="49" charset="-128"/>
                <a:cs typeface="Times New Roman" panose="02020603050405020304" pitchFamily="18" charset="0"/>
              </a:rPr>
              <a:t>It had an accuracy value of 0.5229 compared to Random Forest model with accuracy of 0.4977. Though both values are considered generally low. </a:t>
            </a:r>
            <a:r>
              <a:rPr lang="en-US" sz="2400" b="1" dirty="0">
                <a:effectLst/>
                <a:latin typeface="Times New Roman" panose="02020603050405020304" pitchFamily="18" charset="0"/>
                <a:ea typeface="MS Mincho" panose="02020609040205080304" pitchFamily="49" charset="-128"/>
                <a:cs typeface="Times New Roman" panose="02020603050405020304" pitchFamily="18" charset="0"/>
              </a:rPr>
              <a:t>The use of feature engineered variables played a significant role in the accuracy of the model, but it was observed that using too many of such variables also seemed to slightly reduce accuracy as measured by the R-squared, due to over fitting.</a:t>
            </a:r>
            <a:endParaRPr lang="en-US" sz="2400" b="1" dirty="0">
              <a:effectLst/>
              <a:latin typeface="Cambria" panose="02040503050406030204" pitchFamily="18" charset="0"/>
              <a:ea typeface="MS Mincho" panose="02020609040205080304" pitchFamily="49" charset="-128"/>
              <a:cs typeface="Times New Roman" panose="02020603050405020304" pitchFamily="18" charset="0"/>
            </a:endParaRPr>
          </a:p>
          <a:p>
            <a:pPr marL="0" marR="0" algn="just">
              <a:lnSpc>
                <a:spcPct val="115000"/>
              </a:lnSpc>
              <a:spcAft>
                <a:spcPts val="1000"/>
              </a:spcAft>
              <a:buNone/>
            </a:pPr>
            <a:r>
              <a:rPr lang="en-US" sz="2400" b="1" dirty="0">
                <a:effectLst/>
                <a:latin typeface="Times New Roman" panose="02020603050405020304" pitchFamily="18" charset="0"/>
                <a:ea typeface="MS Mincho" panose="02020609040205080304" pitchFamily="49" charset="-128"/>
                <a:cs typeface="Times New Roman" panose="02020603050405020304" pitchFamily="18" charset="0"/>
              </a:rPr>
              <a:t>The eventual Random Forest Model predicted data fit to the real historical data gave R-squared of 0.9939, MAE of 20.25 and RMSE of 22.24, which shows high accuracy for the fit of the model to actual gold historical data. The strategy performance varies between 0.81 and 1.00</a:t>
            </a:r>
            <a:r>
              <a:rPr lang="en-US" sz="2000" dirty="0">
                <a:effectLst/>
                <a:latin typeface="Times New Roman" panose="02020603050405020304" pitchFamily="18" charset="0"/>
                <a:ea typeface="MS Mincho" panose="02020609040205080304" pitchFamily="49" charset="-128"/>
                <a:cs typeface="Times New Roman" panose="02020603050405020304" pitchFamily="18" charset="0"/>
              </a:rPr>
              <a:t>.</a:t>
            </a:r>
            <a:endParaRPr lang="en-US"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US" dirty="0"/>
          </a:p>
        </p:txBody>
      </p:sp>
      <p:pic>
        <p:nvPicPr>
          <p:cNvPr id="15" name="Picture Placeholder 14" descr="A person in an apron holding a computer">
            <a:extLst>
              <a:ext uri="{FF2B5EF4-FFF2-40B4-BE49-F238E27FC236}">
                <a16:creationId xmlns:a16="http://schemas.microsoft.com/office/drawing/2014/main" id="{48869757-F643-C013-26AA-3DDE95080099}"/>
              </a:ext>
            </a:extLst>
          </p:cNvPr>
          <p:cNvPicPr>
            <a:picLocks noGrp="1" noChangeAspect="1"/>
          </p:cNvPicPr>
          <p:nvPr>
            <p:ph type="pic" sz="quarter" idx="10"/>
          </p:nvPr>
        </p:nvPicPr>
        <p:blipFill>
          <a:blip r:embed="rId3"/>
          <a:srcRect l="331" r="331"/>
          <a:stretch/>
        </p:blipFill>
        <p:spPr>
          <a:xfrm>
            <a:off x="10825316" y="-20757"/>
            <a:ext cx="1387320" cy="6555026"/>
          </a:xfrm>
        </p:spPr>
      </p:pic>
    </p:spTree>
    <p:extLst>
      <p:ext uri="{BB962C8B-B14F-4D97-AF65-F5344CB8AC3E}">
        <p14:creationId xmlns:p14="http://schemas.microsoft.com/office/powerpoint/2010/main" val="859909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9245C024-6855-546F-CA76-BF4AAD1E22D6}"/>
              </a:ext>
            </a:extLst>
          </p:cNvPr>
          <p:cNvPicPr>
            <a:picLocks noGrp="1" noChangeAspect="1"/>
          </p:cNvPicPr>
          <p:nvPr>
            <p:ph sz="quarter" idx="13"/>
          </p:nvPr>
        </p:nvPicPr>
        <p:blipFill>
          <a:blip r:embed="rId2"/>
          <a:stretch>
            <a:fillRect/>
          </a:stretch>
        </p:blipFill>
        <p:spPr>
          <a:xfrm>
            <a:off x="1312607" y="485058"/>
            <a:ext cx="10309122" cy="5887884"/>
          </a:xfrm>
          <a:prstGeom prst="rect">
            <a:avLst/>
          </a:prstGeom>
        </p:spPr>
      </p:pic>
    </p:spTree>
    <p:extLst>
      <p:ext uri="{BB962C8B-B14F-4D97-AF65-F5344CB8AC3E}">
        <p14:creationId xmlns:p14="http://schemas.microsoft.com/office/powerpoint/2010/main" val="537809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E59500A-4B75-29F9-CE37-C3E13D6A566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11</a:t>
            </a:fld>
            <a:endParaRPr lang="en-US" dirty="0"/>
          </a:p>
        </p:txBody>
      </p:sp>
      <p:pic>
        <p:nvPicPr>
          <p:cNvPr id="12" name="Content Placeholder 11">
            <a:extLst>
              <a:ext uri="{FF2B5EF4-FFF2-40B4-BE49-F238E27FC236}">
                <a16:creationId xmlns:a16="http://schemas.microsoft.com/office/drawing/2014/main" id="{6057B77A-EF89-1782-7E48-0E88B7ED620B}"/>
              </a:ext>
            </a:extLst>
          </p:cNvPr>
          <p:cNvPicPr>
            <a:picLocks noGrp="1" noChangeAspect="1"/>
          </p:cNvPicPr>
          <p:nvPr>
            <p:ph sz="quarter" idx="13"/>
          </p:nvPr>
        </p:nvPicPr>
        <p:blipFill rotWithShape="1">
          <a:blip r:embed="rId3"/>
          <a:srcRect l="5737" t="16168" r="35705" b="28184"/>
          <a:stretch/>
        </p:blipFill>
        <p:spPr bwMode="auto">
          <a:xfrm>
            <a:off x="914400" y="414398"/>
            <a:ext cx="10439400" cy="606014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32147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D2469ED-926E-7CEE-5AF2-BF9AC726D015}"/>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12</a:t>
            </a:fld>
            <a:endParaRPr lang="en-US" dirty="0"/>
          </a:p>
        </p:txBody>
      </p:sp>
      <p:pic>
        <p:nvPicPr>
          <p:cNvPr id="7" name="Table Placeholder 6">
            <a:extLst>
              <a:ext uri="{FF2B5EF4-FFF2-40B4-BE49-F238E27FC236}">
                <a16:creationId xmlns:a16="http://schemas.microsoft.com/office/drawing/2014/main" id="{D0B8FF3A-7A20-B3B9-021C-E9D662CC1F33}"/>
              </a:ext>
            </a:extLst>
          </p:cNvPr>
          <p:cNvPicPr>
            <a:picLocks noGrp="1" noChangeAspect="1"/>
          </p:cNvPicPr>
          <p:nvPr>
            <p:ph type="tbl" sz="quarter" idx="14"/>
          </p:nvPr>
        </p:nvPicPr>
        <p:blipFill rotWithShape="1">
          <a:blip r:embed="rId3"/>
          <a:srcRect l="6063" t="18863" r="38276" b="32817"/>
          <a:stretch/>
        </p:blipFill>
        <p:spPr bwMode="auto">
          <a:xfrm>
            <a:off x="324465" y="398207"/>
            <a:ext cx="11690751" cy="597309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64996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C6DCC38C-603B-CCD0-2914-0BBCD4F4F74E}"/>
              </a:ext>
            </a:extLst>
          </p:cNvPr>
          <p:cNvSpPr>
            <a:spLocks noGrp="1"/>
          </p:cNvSpPr>
          <p:nvPr>
            <p:ph sz="quarter" idx="13"/>
          </p:nvPr>
        </p:nvSpPr>
        <p:spPr>
          <a:xfrm>
            <a:off x="1076632" y="914400"/>
            <a:ext cx="9640136" cy="5029200"/>
          </a:xfrm>
        </p:spPr>
        <p:txBody>
          <a:bodyPr anchor="ctr">
            <a:normAutofit/>
          </a:bodyPr>
          <a:lstStyle/>
          <a:p>
            <a:pPr algn="ctr"/>
            <a:r>
              <a:rPr lang="en-US" sz="3200" b="1" dirty="0">
                <a:latin typeface="Aptos" panose="020B0004020202020204" pitchFamily="34" charset="0"/>
              </a:rPr>
              <a:t>THANK YOU</a:t>
            </a:r>
          </a:p>
          <a:p>
            <a:pPr algn="ctr"/>
            <a:endParaRPr lang="en-US" sz="3200" b="1" dirty="0">
              <a:latin typeface="Aptos" panose="020B0004020202020204" pitchFamily="34" charset="0"/>
            </a:endParaRPr>
          </a:p>
          <a:p>
            <a:pPr algn="ctr"/>
            <a:endParaRPr lang="en-US" sz="3200" b="1" dirty="0">
              <a:latin typeface="Aptos" panose="020B0004020202020204" pitchFamily="34" charset="0"/>
            </a:endParaRPr>
          </a:p>
          <a:p>
            <a:pPr algn="ctr"/>
            <a:endParaRPr lang="en-US" sz="3200" b="1" dirty="0">
              <a:latin typeface="Aptos" panose="020B0004020202020204" pitchFamily="34" charset="0"/>
            </a:endParaRPr>
          </a:p>
          <a:p>
            <a:pPr algn="ctr"/>
            <a:endParaRPr lang="en-US" sz="3200" b="1" dirty="0">
              <a:latin typeface="Aptos" panose="020B0004020202020204" pitchFamily="34" charset="0"/>
            </a:endParaRPr>
          </a:p>
          <a:p>
            <a:pPr algn="ctr"/>
            <a:r>
              <a:rPr lang="en-US" sz="3200" b="1" dirty="0">
                <a:latin typeface="Aptos" panose="020B0004020202020204" pitchFamily="34" charset="0"/>
              </a:rPr>
              <a:t>OSOKA, EMMANUEL CHIBUIKE</a:t>
            </a:r>
            <a:br>
              <a:rPr lang="en-US" sz="3200" dirty="0"/>
            </a:br>
            <a:endParaRPr lang="en-US" sz="3200" dirty="0"/>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{358CE680-D451-43CE-B868-050B4D716A3C}TF1ed9553b-00c4-4092-846a-c8f7f2908f3beecd942f_win32-8e33096c3cfc</Template>
  <TotalTime>47</TotalTime>
  <Words>336</Words>
  <Application>Microsoft Office PowerPoint</Application>
  <PresentationFormat>Widescreen</PresentationFormat>
  <Paragraphs>102</Paragraphs>
  <Slides>13</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Aptos</vt:lpstr>
      <vt:lpstr>Arial</vt:lpstr>
      <vt:lpstr>Calibri</vt:lpstr>
      <vt:lpstr>Cambria</vt:lpstr>
      <vt:lpstr>Courier New</vt:lpstr>
      <vt:lpstr>Gill Sans Nova Light</vt:lpstr>
      <vt:lpstr>Sagona Book</vt:lpstr>
      <vt:lpstr>Times New Roman</vt:lpstr>
      <vt:lpstr>Custom</vt:lpstr>
      <vt:lpstr>      PREDICTING SHORT-TERM PRICE MOVEMENTS OF GOLD (XAUUSD) USING HISTORICAL OHLCV DATA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10</cp:revision>
  <dcterms:created xsi:type="dcterms:W3CDTF">2026-05-05T00:53:21Z</dcterms:created>
  <dcterms:modified xsi:type="dcterms:W3CDTF">2026-05-05T01:40:29Z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